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15"/>
  </p:notesMasterIdLst>
  <p:handoutMasterIdLst>
    <p:handoutMasterId r:id="rId16"/>
  </p:handoutMasterIdLst>
  <p:sldIdLst>
    <p:sldId id="258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0"/>
  </p:normalViewPr>
  <p:slideViewPr>
    <p:cSldViewPr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5/16/2026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5/16/2026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5/16/2026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ik1tori/Workshops_SKERAL/blob/main/Homework_SQL/task1_4.sq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hub.com/shik1tori/Workshops_SKERAL/blob/main/Homework_SQL/task5.sql" TargetMode="Externa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uk-UA" dirty="0"/>
              <a:t>Домашнє завдання №1</a:t>
            </a:r>
            <a:br>
              <a:rPr lang="uk-UA" dirty="0"/>
            </a:br>
            <a:r>
              <a:rPr lang="uk-UA" dirty="0"/>
              <a:t>(</a:t>
            </a:r>
            <a:r>
              <a:rPr lang="pl-PL" dirty="0" err="1"/>
              <a:t>sql</a:t>
            </a:r>
            <a:r>
              <a:rPr lang="pl-PL" dirty="0"/>
              <a:t>)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10670978" cy="745198"/>
          </a:xfrm>
        </p:spPr>
        <p:txBody>
          <a:bodyPr>
            <a:normAutofit/>
          </a:bodyPr>
          <a:lstStyle/>
          <a:p>
            <a:pPr algn="r"/>
            <a:r>
              <a:rPr lang="pl-PL" dirty="0" err="1"/>
              <a:t>Made</a:t>
            </a:r>
            <a:r>
              <a:rPr lang="pl-PL" dirty="0"/>
              <a:t> by: </a:t>
            </a:r>
            <a:r>
              <a:rPr lang="ru-RU" dirty="0"/>
              <a:t>Остапова Олександра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D0E260-23E4-D295-70F5-410D588C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rmAutofit/>
          </a:bodyPr>
          <a:lstStyle/>
          <a:p>
            <a:r>
              <a:rPr lang="ru-RU" dirty="0"/>
              <a:t>Крок </a:t>
            </a:r>
            <a:r>
              <a:rPr lang="uk-UA" dirty="0"/>
              <a:t>№1</a:t>
            </a:r>
            <a:endParaRPr lang="en-US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34926569-266A-7EF9-D8F7-447A360094B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rmAutofit/>
          </a:bodyPr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кумулятивну структуру даних, якщо просто зробити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SUM(spend) —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отримаєш завищений результат. Потрібно залишити тільки </a:t>
            </a: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рядок на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ad_id, date)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найновіший за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timestamp.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Подумай яку віконну функцію використати і по яких полях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партиціонувати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974F98-3D33-EFA3-AD95-84209D36D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856" y="1058955"/>
            <a:ext cx="7584144" cy="47400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477884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6F5B934-444B-79B4-1831-7445DF6B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/>
          <a:lstStyle/>
          <a:p>
            <a:r>
              <a:rPr lang="ru-RU" dirty="0"/>
              <a:t>Результат кроку №1</a:t>
            </a:r>
            <a:endParaRPr lang="en-US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8438D47-4919-A6E0-7CB9-55A6A4F37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2314837"/>
            <a:ext cx="10963656" cy="33713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754978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80920-10EA-A4EE-9F89-FEB8916A5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3D3C46-70C1-72E1-AE95-665E3C1F5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rmAutofit/>
          </a:bodyPr>
          <a:lstStyle/>
          <a:p>
            <a:r>
              <a:rPr lang="ru-RU" dirty="0"/>
              <a:t>Крок </a:t>
            </a:r>
            <a:r>
              <a:rPr lang="uk-UA" dirty="0"/>
              <a:t>№2</a:t>
            </a:r>
            <a:endParaRPr lang="en-US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85C6D3D7-F980-C502-0C47-448C86BAFE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rmAutofit/>
          </a:bodyPr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Після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дедублікації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агрегуй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дані по 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source, date)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щоб отримати денний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spend,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покази, кліки, встановлення і реєстрації по кожному каналу.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Объект 4">
            <a:extLst>
              <a:ext uri="{FF2B5EF4-FFF2-40B4-BE49-F238E27FC236}">
                <a16:creationId xmlns:a16="http://schemas.microsoft.com/office/drawing/2014/main" id="{134B64B5-5624-09E6-CF2C-E765AA56C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856" y="1127197"/>
            <a:ext cx="7584144" cy="46036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8333067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28FF0-4893-6E5E-B8BC-2994A770C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rmAutofit/>
          </a:bodyPr>
          <a:lstStyle/>
          <a:p>
            <a:r>
              <a:rPr lang="ru-RU" dirty="0"/>
              <a:t>Результат кроку №2</a:t>
            </a:r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50C240C-1F10-33DA-B82F-613672EAE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2575225"/>
            <a:ext cx="10963656" cy="28505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8723968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A1FB80-238B-62FA-5810-7792D3912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rmAutofit/>
          </a:bodyPr>
          <a:lstStyle/>
          <a:p>
            <a:r>
              <a:rPr lang="ru-RU" dirty="0"/>
              <a:t>Крок </a:t>
            </a:r>
            <a:r>
              <a:rPr lang="uk-UA" dirty="0"/>
              <a:t>№3</a:t>
            </a:r>
            <a:endParaRPr lang="en-US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E9E27ED-AA45-02C4-2CD0-91AA4ABDCC8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15698" y="3011275"/>
            <a:ext cx="3364992" cy="2973025"/>
          </a:xfrm>
          <a:prstGeom prst="rect">
            <a:avLst/>
          </a:prstGeom>
          <a:noFill/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3FEBD67-B913-EE6D-F73E-FC7EBE868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856" y="1286480"/>
            <a:ext cx="7584144" cy="42850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073758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C0444-12A6-D287-D57D-9AAB9CBB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8E2C3D-641B-4AAD-09CD-B6405DAFB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rmAutofit/>
          </a:bodyPr>
          <a:lstStyle/>
          <a:p>
            <a:r>
              <a:rPr lang="ru-RU" dirty="0"/>
              <a:t>Результат кроку №</a:t>
            </a:r>
            <a:r>
              <a:rPr lang="en-US" dirty="0"/>
              <a:t>3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F50488E-91EF-2225-C040-B574E02DA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3356386"/>
            <a:ext cx="10963656" cy="12882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3063480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5C5CE-3B4E-9E44-16AD-0875C3A73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Крок 4 — Аналіз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C0A64A-51BF-6F6A-8FA2-6E8336FFF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uk-U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Який канал має найнижчий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CAC?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Найнижчий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CAC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канал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канал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залучає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одного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зареєстрованого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найменшими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витратами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свідчить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найбільш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рекламного бюджету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усіх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каналів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uk-U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 найбільші втрати у воронці — на якому етапі найгірша конверсія?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Найбільші втрати у воронці спостерігаються на етапі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Impression → Click (CTR),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особливо в каналі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Meta.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 означає, що велика кількість показів не переходить у кліки, тобто користувачі бачать рекламу, але не взаємодіють із нею достатньо активно.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META </a:t>
            </a:r>
            <a:r>
              <a:rPr lang="uk-U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витрачає в ~3.3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uk-U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більше ніж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TikTok </a:t>
            </a:r>
            <a:r>
              <a:rPr lang="uk-U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Google. </a:t>
            </a:r>
            <a:r>
              <a:rPr lang="uk-U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 виправдано це з точки зору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CAC?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Так, частково виправдано. Попри значно більші витрати,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демонструє найнижчий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CAC,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тобто залучає користувачів дешевше за конкурентів. Це означає, що канал масштабується ефективно.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Проте варто звернути увагу на слабкий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 -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великий обсяг показів не дає пропорційного росту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кліків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тому є потенціал для оптимізації рекламних креативів або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таргетингу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Загальний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https://github.com/shik1tori/Workshops_SKERAL/blob/main/Homework_SQL/task1_4.sql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03784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94F1BA-60CF-E98E-2518-71228D0F8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Бонус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E91C05-B469-349B-2DF4-C8CCE8210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3040360"/>
          </a:xfrm>
        </p:spPr>
        <p:txBody>
          <a:bodyPr/>
          <a:lstStyle/>
          <a:p>
            <a:r>
              <a:rPr lang="uk-U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Якщо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LTV </a:t>
            </a:r>
            <a:r>
              <a:rPr lang="uk-U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 минулого заняття склав: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TikTok = $8.50, META = $6.20, Google = $12.40 — </a:t>
            </a:r>
            <a:r>
              <a:rPr lang="uk-U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порахуй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LTV/CAC </a:t>
            </a:r>
            <a:r>
              <a:rPr lang="uk-U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кожному каналу. Який канал найприбутковіший?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Після розрахунку співвідношення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LTV/CAC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найкращий результат показує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 означає, що канал не лише дешево залучає користувачів, а й приносить найбільшу цінність відносно витрат на їх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acquisition.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TikTok: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LTV = $8.50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LTV = $6.20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LTV = $12.40 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Попри те, що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має найвищий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LTV,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вищий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його ефективність нижча.</a:t>
            </a: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демонструє найкращий баланс між вартістю залучення та доходом від користувача, тому є найприбутковішим каналом за метрикою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LTV/CAC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B184139-CD23-E91C-D574-C2A9C574D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4869160"/>
            <a:ext cx="10963654" cy="110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70298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2DDEC2-18AF-CF96-D3B4-04A15A633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rmAutofit/>
          </a:bodyPr>
          <a:lstStyle/>
          <a:p>
            <a:r>
              <a:rPr lang="ru-RU" dirty="0"/>
              <a:t>Бонус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6E5DEA-BD4D-AE33-20FC-21634A2AC7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rmAutofit/>
          </a:bodyPr>
          <a:lstStyle/>
          <a:p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Розбий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CAC по </a:t>
            </a:r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місяцях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змінювалась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ефективність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каналів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протягом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кампанії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Найприбутковішим каналом є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оскільки він має найвище співвідношення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LTV/CAC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 означає, що витрати на залучення користувача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окуповуються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найефективніше, а канал приносить найбільшу цінність відносно вартості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acquisition.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Загальний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https://github.com/shik1tori/Workshops_SKERAL/blob/main/Homework_SQL/task5.sql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BA82C25-B9D7-CF8D-ED46-26D4B3F23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265" y="1232277"/>
            <a:ext cx="7020735" cy="482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2298387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{34147764-BB15-4644-8BE9-29FE77B23010}0f45c1b8-b519-4737-8f12-a18148944ef7-TFfcaeb239-e0ad-43c4-9739-4084ddd7c62fe496f549_win32</Template>
  <TotalTime>111</TotalTime>
  <Words>510</Words>
  <Application>Microsoft Office PowerPoint</Application>
  <PresentationFormat>Широкоэкранный</PresentationFormat>
  <Paragraphs>34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Arial</vt:lpstr>
      <vt:lpstr>Bahnschrift SemiLight</vt:lpstr>
      <vt:lpstr>Times New Roman</vt:lpstr>
      <vt:lpstr>Blockwork elegance</vt:lpstr>
      <vt:lpstr>Домашнє завдання №1 (sql)</vt:lpstr>
      <vt:lpstr>Крок №1</vt:lpstr>
      <vt:lpstr>Результат кроку №1</vt:lpstr>
      <vt:lpstr>Крок №2</vt:lpstr>
      <vt:lpstr>Результат кроку №2</vt:lpstr>
      <vt:lpstr>Крок №3</vt:lpstr>
      <vt:lpstr>Результат кроку №3</vt:lpstr>
      <vt:lpstr>Крок 4 — Аналіз</vt:lpstr>
      <vt:lpstr>Бонус</vt:lpstr>
      <vt:lpstr>Бонус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Aleksandra Ostapova</dc:creator>
  <cp:lastModifiedBy>Aleksandra Ostapova</cp:lastModifiedBy>
  <cp:revision>3</cp:revision>
  <dcterms:created xsi:type="dcterms:W3CDTF">2026-05-15T19:45:56Z</dcterms:created>
  <dcterms:modified xsi:type="dcterms:W3CDTF">2026-05-15T22:00:31Z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